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3" r:id="rId2"/>
    <p:sldId id="257" r:id="rId3"/>
    <p:sldId id="274" r:id="rId4"/>
    <p:sldId id="271" r:id="rId5"/>
    <p:sldId id="269" r:id="rId6"/>
    <p:sldId id="280" r:id="rId7"/>
    <p:sldId id="284" r:id="rId8"/>
    <p:sldId id="282" r:id="rId9"/>
    <p:sldId id="275" r:id="rId10"/>
    <p:sldId id="281" r:id="rId11"/>
  </p:sldIdLst>
  <p:sldSz cx="9144000" cy="5143500" type="screen16x9"/>
  <p:notesSz cx="5143500" cy="9144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00"/>
    <a:srgbClr val="747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1" dt="2026-10-05T20:11:30.874"/>
    <p1510:client id="{001BA017-BC25-47AE-A292-7C05893C18BE}" v="700" dt="2026-10-05T16:16:58.078"/>
    <p1510:client id="{21F5256F-C9AB-4A8E-A424-520A202F4799}" v="47" dt="2026-10-05T16:17:43.821"/>
    <p1510:client id="{2307761A-B499-4053-BAA1-1B5DBF989AE5}" v="1" dt="2026-10-05T20:16:19.325"/>
    <p1510:client id="{A3DBCEA4-733B-4348-9DDE-066B73EAB8E6}" v="300" dt="2026-10-05T16:16:59.560"/>
    <p1510:client id="{C88D77C4-12E1-81FA-1562-326D426A5575}" v="149" dt="2026-10-05T15:58:59.956"/>
    <p1510:client id="{D956BB61-ECE1-4A72-8F1D-F95C3539B268}" v="2" dt="2026-10-05T15:38:06.630"/>
    <p1510:client id="{F8A77988-CE21-43B0-82D8-46288482D0C2}" v="62" dt="2026-10-05T15:22:33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Estopañan Moreno" userId="a6de4759-a1cf-4b87-b003-de07c9506c21" providerId="ADAL" clId="{4A91B652-1121-4785-BBE2-3E264CAC6C09}"/>
    <pc:docChg chg="delSld">
      <pc:chgData name="Laia Estopañan Moreno" userId="a6de4759-a1cf-4b87-b003-de07c9506c21" providerId="ADAL" clId="{4A91B652-1121-4785-BBE2-3E264CAC6C09}" dt="2026-10-05T20:17:08.130" v="4" actId="2696"/>
      <pc:docMkLst>
        <pc:docMk/>
      </pc:docMkLst>
      <pc:sldChg chg="del">
        <pc:chgData name="Laia Estopañan Moreno" userId="a6de4759-a1cf-4b87-b003-de07c9506c21" providerId="ADAL" clId="{4A91B652-1121-4785-BBE2-3E264CAC6C09}" dt="2026-10-05T20:17:00.717" v="1" actId="2696"/>
        <pc:sldMkLst>
          <pc:docMk/>
          <pc:sldMk cId="3111341965" sldId="270"/>
        </pc:sldMkLst>
      </pc:sldChg>
      <pc:sldChg chg="del">
        <pc:chgData name="Laia Estopañan Moreno" userId="a6de4759-a1cf-4b87-b003-de07c9506c21" providerId="ADAL" clId="{4A91B652-1121-4785-BBE2-3E264CAC6C09}" dt="2026-10-05T20:17:03.033" v="2" actId="2696"/>
        <pc:sldMkLst>
          <pc:docMk/>
          <pc:sldMk cId="4223778360" sldId="276"/>
        </pc:sldMkLst>
      </pc:sldChg>
      <pc:sldChg chg="del">
        <pc:chgData name="Laia Estopañan Moreno" userId="a6de4759-a1cf-4b87-b003-de07c9506c21" providerId="ADAL" clId="{4A91B652-1121-4785-BBE2-3E264CAC6C09}" dt="2026-10-05T20:17:05.688" v="3" actId="2696"/>
        <pc:sldMkLst>
          <pc:docMk/>
          <pc:sldMk cId="42709543" sldId="277"/>
        </pc:sldMkLst>
      </pc:sldChg>
      <pc:sldChg chg="del">
        <pc:chgData name="Laia Estopañan Moreno" userId="a6de4759-a1cf-4b87-b003-de07c9506c21" providerId="ADAL" clId="{4A91B652-1121-4785-BBE2-3E264CAC6C09}" dt="2026-10-05T20:17:08.130" v="4" actId="2696"/>
        <pc:sldMkLst>
          <pc:docMk/>
          <pc:sldMk cId="2583222640" sldId="278"/>
        </pc:sldMkLst>
      </pc:sldChg>
      <pc:sldChg chg="del">
        <pc:chgData name="Laia Estopañan Moreno" userId="a6de4759-a1cf-4b87-b003-de07c9506c21" providerId="ADAL" clId="{4A91B652-1121-4785-BBE2-3E264CAC6C09}" dt="2026-10-05T20:16:58.605" v="0" actId="2696"/>
        <pc:sldMkLst>
          <pc:docMk/>
          <pc:sldMk cId="1846565648" sldId="28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España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98.54</c:v>
                </c:pt>
                <c:pt idx="2">
                  <c:v>93.06</c:v>
                </c:pt>
                <c:pt idx="3">
                  <c:v>79.13</c:v>
                </c:pt>
                <c:pt idx="4">
                  <c:v>61.43</c:v>
                </c:pt>
                <c:pt idx="5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B-4713-8912-261BCDE23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UE-27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96.71</c:v>
                </c:pt>
                <c:pt idx="1">
                  <c:v>94.54</c:v>
                </c:pt>
                <c:pt idx="2">
                  <c:v>96.13</c:v>
                </c:pt>
                <c:pt idx="3">
                  <c:v>74.709999999999994</c:v>
                </c:pt>
                <c:pt idx="4">
                  <c:v>59.66</c:v>
                </c:pt>
                <c:pt idx="5">
                  <c:v>47.48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B-4713-8912-261BCDE23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04678362573097E-2"/>
          <c:y val="0.14642973407393844"/>
          <c:w val="0.91959064327485385"/>
          <c:h val="0.6400043744531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Competencias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74.599999999999994</c:v>
                </c:pt>
                <c:pt idx="1">
                  <c:v>68.8</c:v>
                </c:pt>
                <c:pt idx="2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0-4676-BA4A-21535BBA80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64.5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A0-4676-BA4A-21535BBA80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430C1-4D74-46CA-BCB2-8BDDEC0C1C1C}" type="datetimeFigureOut">
              <a:t>05/10/2026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D8B9E-265F-4659-94A5-DDA65A11039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≈20 s. Presentación del equipo. Una frase: venimos a responder por qué la ciudadanía europea usa más o menos la Administración online, y qué debería hacer la Administración al respecto.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BCAD-288A-7E5C-0368-126F92C2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A05C6-4A9E-595A-34F2-A45DE5D8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656D5-EDF1-3F7A-48D8-22B83847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ABD7A-3AF7-4692-E9C1-0270EBE3D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7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00F4-45F0-1D6E-B303-EB73A710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18678-6277-E2EA-758A-9D5C9F16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2E678-413A-DA5F-A0A1-133300A2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España saca 79,1 en calidad, por encima de la media UE (74,7). Casi un 100 en soporte, disponibilidad y móvil. Donde pierde puntos es en transparencia (61) y sobre todo en accesibilidad (54). Esos son los componentes que marcan la diferencia.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FFC14-8831-749C-C7F7-7FBDE6E8C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F0DC-D4E1-4915-A4C6-DD7BCD22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39773-2F05-AFB8-16A5-3FEE56021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E7FC1-9467-A72F-7398-ACAA2192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Cada punto es un país. La </a:t>
            </a:r>
            <a:r>
              <a:rPr lang="en-US" err="1"/>
              <a:t>correlación</a:t>
            </a:r>
            <a:r>
              <a:rPr lang="en-US"/>
              <a:t> es 0,78, fuerte: a más competencias, más uso. 19 de 27 países siguen la tendencia. España, en amarillo, está por encima de la media en ambas: las competencias no son su freno. Ojo, </a:t>
            </a:r>
            <a:r>
              <a:rPr lang="en-US" err="1"/>
              <a:t>correlación</a:t>
            </a:r>
            <a:r>
              <a:rPr lang="en-US"/>
              <a:t> no es causalidad.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AFFA-AFFA-ABBE-0E25-3274E049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Mismo</a:t>
            </a:r>
            <a:r>
              <a:rPr lang="en-US"/>
              <a:t> </a:t>
            </a:r>
            <a:r>
              <a:rPr lang="en-US" err="1"/>
              <a:t>formato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P2: </a:t>
            </a:r>
            <a:r>
              <a:rPr lang="en-US" err="1"/>
              <a:t>calidad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</a:t>
            </a:r>
            <a:r>
              <a:rPr lang="en-US" err="1"/>
              <a:t>eje</a:t>
            </a:r>
            <a:r>
              <a:rPr lang="en-US"/>
              <a:t> horizontal y </a:t>
            </a:r>
            <a:r>
              <a:rPr lang="en-US" err="1"/>
              <a:t>uso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el vertical. La </a:t>
            </a:r>
            <a:r>
              <a:rPr lang="en-US" err="1"/>
              <a:t>correlación</a:t>
            </a:r>
            <a:r>
              <a:rPr lang="en-US"/>
              <a:t> es 0,65, </a:t>
            </a:r>
            <a:r>
              <a:rPr lang="en-US" err="1"/>
              <a:t>positiva</a:t>
            </a:r>
            <a:r>
              <a:rPr lang="en-US"/>
              <a:t>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débil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la de </a:t>
            </a:r>
            <a:r>
              <a:rPr lang="en-US" err="1"/>
              <a:t>competencias</a:t>
            </a:r>
            <a:r>
              <a:rPr lang="en-US"/>
              <a:t> (0,78). Abajo a la </a:t>
            </a:r>
            <a:r>
              <a:rPr lang="en-US" err="1"/>
              <a:t>derecha</a:t>
            </a:r>
            <a:r>
              <a:rPr lang="en-US"/>
              <a:t>, </a:t>
            </a:r>
            <a:r>
              <a:rPr lang="en-US" err="1"/>
              <a:t>buena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y poco </a:t>
            </a:r>
            <a:r>
              <a:rPr lang="en-US" err="1"/>
              <a:t>uso</a:t>
            </a:r>
            <a:r>
              <a:rPr lang="en-US"/>
              <a:t>, no hay </a:t>
            </a:r>
            <a:r>
              <a:rPr lang="en-US" err="1"/>
              <a:t>ningún</a:t>
            </a:r>
            <a:r>
              <a:rPr lang="en-US"/>
              <a:t> </a:t>
            </a:r>
            <a:r>
              <a:rPr lang="en-US" err="1"/>
              <a:t>país</a:t>
            </a:r>
            <a:r>
              <a:rPr lang="en-US"/>
              <a:t>. En </a:t>
            </a:r>
            <a:r>
              <a:rPr lang="en-US" err="1"/>
              <a:t>cambio</a:t>
            </a:r>
            <a:r>
              <a:rPr lang="en-US"/>
              <a:t>, hay 8 </a:t>
            </a:r>
            <a:r>
              <a:rPr lang="en-US" err="1"/>
              <a:t>países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la </a:t>
            </a:r>
            <a:r>
              <a:rPr lang="en-US" err="1"/>
              <a:t>usan</a:t>
            </a:r>
            <a:r>
              <a:rPr lang="en-US"/>
              <a:t> </a:t>
            </a:r>
            <a:r>
              <a:rPr lang="en-US" err="1"/>
              <a:t>mucho</a:t>
            </a:r>
            <a:r>
              <a:rPr lang="en-US"/>
              <a:t> con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debajo</a:t>
            </a:r>
            <a:r>
              <a:rPr lang="en-US"/>
              <a:t> de la media. La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ayuda</a:t>
            </a:r>
            <a:r>
              <a:rPr lang="en-US"/>
              <a:t>, </a:t>
            </a:r>
            <a:r>
              <a:rPr lang="en-US" err="1"/>
              <a:t>pero</a:t>
            </a:r>
            <a:r>
              <a:rPr lang="en-US"/>
              <a:t> las personas </a:t>
            </a:r>
            <a:r>
              <a:rPr lang="en-US" err="1"/>
              <a:t>pesan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Cruzamos tres fuentes oficiales de 2025 para los 27 países UE. Oferta: la calidad de las plataformas, del eGovernment Benchmark. Demanda: las competencias digitales de la población, de Eurostat. Y el resultado: qué % de la población usa la Administración online. Con eso respondemos tres preguntas.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462B-621D-3C04-C0A2-D727BC8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D2A1-28F8-31B9-D6A7-1ED8E5B38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597B5-F110-BC89-D4E7-E5A72545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≈20 s. Presentación del equipo. Una frase: venimos a responder por qué la ciudadanía europea usa más o menos la Administración online, y qué debería hacer la Administración al respecto.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5D31-4414-72E3-687F-8F77850C1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12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5C0F-837D-FF7A-7B2D-94EEDBB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D8F8F-91AE-765C-BCFC-DA1B7E4D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2BCDA-4F06-5F11-8679-0F98AA357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93291-3C56-9601-4532-E700602A7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6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59CF-2CC2-5203-ED43-4B86D5A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FA99B-6C0B-B4AA-F92C-B40FAF665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CF3C5-162C-16D6-05FC-0C5C3A5C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0FDCA-B8A7-6FF5-8C40-F3C40F870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¿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qué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depende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el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uso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de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la Administración D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igital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: las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plataformas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o las personas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?</a:t>
            </a:r>
            <a:endParaRPr lang="es-ES" sz="20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3931920" cy="34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9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>
              <a:latin typeface="EYInterstate" panose="02000503020000020004" pitchFamily="2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E9523E3-0748-D846-2935-F332055FB545}"/>
              </a:ext>
            </a:extLst>
          </p:cNvPr>
          <p:cNvGrpSpPr/>
          <p:nvPr/>
        </p:nvGrpSpPr>
        <p:grpSpPr>
          <a:xfrm>
            <a:off x="457200" y="1017238"/>
            <a:ext cx="8229600" cy="460519"/>
            <a:chOff x="457200" y="1101543"/>
            <a:chExt cx="6047362" cy="460519"/>
          </a:xfrm>
        </p:grpSpPr>
        <p:sp>
          <p:nvSpPr>
            <p:cNvPr id="45" name="Shape 5">
              <a:extLst>
                <a:ext uri="{FF2B5EF4-FFF2-40B4-BE49-F238E27FC236}">
                  <a16:creationId xmlns:a16="http://schemas.microsoft.com/office/drawing/2014/main" id="{A6003EC7-B2DA-A130-A5B7-7762AB206DF1}"/>
                </a:ext>
              </a:extLst>
            </p:cNvPr>
            <p:cNvSpPr/>
            <p:nvPr/>
          </p:nvSpPr>
          <p:spPr>
            <a:xfrm>
              <a:off x="457200" y="1101543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7" name="Shape 6">
              <a:extLst>
                <a:ext uri="{FF2B5EF4-FFF2-40B4-BE49-F238E27FC236}">
                  <a16:creationId xmlns:a16="http://schemas.microsoft.com/office/drawing/2014/main" id="{9019A6DB-BDBA-357C-2647-4BC2F17062AE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338CBB37-A402-BD87-7260-345D9A60978F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1B3EBE6-738A-4B60-FE31-A19DC1A94251}"/>
                </a:ext>
              </a:extLst>
            </p:cNvPr>
            <p:cNvSpPr/>
            <p:nvPr/>
          </p:nvSpPr>
          <p:spPr>
            <a:xfrm>
              <a:off x="1591080" y="1101543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Contexto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7E0A71E-71FA-EF6A-793A-6E0767B3C373}"/>
              </a:ext>
            </a:extLst>
          </p:cNvPr>
          <p:cNvGrpSpPr/>
          <p:nvPr/>
        </p:nvGrpSpPr>
        <p:grpSpPr>
          <a:xfrm>
            <a:off x="457200" y="1602315"/>
            <a:ext cx="8229600" cy="460519"/>
            <a:chOff x="457200" y="1644471"/>
            <a:chExt cx="6047362" cy="460519"/>
          </a:xfrm>
        </p:grpSpPr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3DBDE4FB-E27C-3EEB-9037-7EF877766A85}"/>
                </a:ext>
              </a:extLst>
            </p:cNvPr>
            <p:cNvSpPr/>
            <p:nvPr/>
          </p:nvSpPr>
          <p:spPr>
            <a:xfrm>
              <a:off x="457200" y="1644471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752168B4-38A7-0688-6945-661E3009BA30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3EF0CADA-5121-930C-7784-92E334A9E94F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0447522A-8EBD-DDD7-3676-823C73DE3D96}"/>
                </a:ext>
              </a:extLst>
            </p:cNvPr>
            <p:cNvSpPr/>
            <p:nvPr/>
          </p:nvSpPr>
          <p:spPr>
            <a:xfrm>
              <a:off x="1591080" y="1644471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P1 – Calidad de la Plataforma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A65CF2-B31B-387B-84DE-0A00C84835ED}"/>
              </a:ext>
            </a:extLst>
          </p:cNvPr>
          <p:cNvGrpSpPr/>
          <p:nvPr/>
        </p:nvGrpSpPr>
        <p:grpSpPr>
          <a:xfrm>
            <a:off x="457200" y="2187392"/>
            <a:ext cx="8229600" cy="460519"/>
            <a:chOff x="457200" y="2187398"/>
            <a:chExt cx="6047362" cy="460519"/>
          </a:xfrm>
        </p:grpSpPr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913AD8D5-2AF5-F38B-190D-AA56DCC586B6}"/>
                </a:ext>
              </a:extLst>
            </p:cNvPr>
            <p:cNvSpPr/>
            <p:nvPr/>
          </p:nvSpPr>
          <p:spPr>
            <a:xfrm>
              <a:off x="457200" y="218739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7AA0BC77-E6CB-EF54-A5FE-927E76C18641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5D4C8447-3D93-143C-12DC-1A2C00C2F20E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CCB1AD5F-D69C-4EA2-9E49-14CDF8B531F9}"/>
                </a:ext>
              </a:extLst>
            </p:cNvPr>
            <p:cNvSpPr/>
            <p:nvPr/>
          </p:nvSpPr>
          <p:spPr>
            <a:xfrm>
              <a:off x="1591080" y="218739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P2 –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Competencia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1438D4D-F811-36CC-7B55-749C4F1A402D}"/>
              </a:ext>
            </a:extLst>
          </p:cNvPr>
          <p:cNvGrpSpPr/>
          <p:nvPr/>
        </p:nvGrpSpPr>
        <p:grpSpPr>
          <a:xfrm>
            <a:off x="457200" y="2772469"/>
            <a:ext cx="8229600" cy="460519"/>
            <a:chOff x="457200" y="2778948"/>
            <a:chExt cx="6047362" cy="460519"/>
          </a:xfrm>
        </p:grpSpPr>
        <p:sp>
          <p:nvSpPr>
            <p:cNvPr id="86" name="Shape 9">
              <a:extLst>
                <a:ext uri="{FF2B5EF4-FFF2-40B4-BE49-F238E27FC236}">
                  <a16:creationId xmlns:a16="http://schemas.microsoft.com/office/drawing/2014/main" id="{F6CFA635-B6F7-D368-8CCC-830D5D50E6D1}"/>
                </a:ext>
              </a:extLst>
            </p:cNvPr>
            <p:cNvSpPr/>
            <p:nvPr/>
          </p:nvSpPr>
          <p:spPr>
            <a:xfrm>
              <a:off x="457200" y="277894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88" name="Shape 10">
              <a:extLst>
                <a:ext uri="{FF2B5EF4-FFF2-40B4-BE49-F238E27FC236}">
                  <a16:creationId xmlns:a16="http://schemas.microsoft.com/office/drawing/2014/main" id="{EC29C6CE-18D9-1C6D-1422-330DB800601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0" name="Text 11">
              <a:extLst>
                <a:ext uri="{FF2B5EF4-FFF2-40B4-BE49-F238E27FC236}">
                  <a16:creationId xmlns:a16="http://schemas.microsoft.com/office/drawing/2014/main" id="{AFD797EC-52C5-3182-8D2F-6D003808414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04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92" name="Text 12">
              <a:extLst>
                <a:ext uri="{FF2B5EF4-FFF2-40B4-BE49-F238E27FC236}">
                  <a16:creationId xmlns:a16="http://schemas.microsoft.com/office/drawing/2014/main" id="{A4CCD3E1-9559-24F5-F16B-B373F3F58F89}"/>
                </a:ext>
              </a:extLst>
            </p:cNvPr>
            <p:cNvSpPr/>
            <p:nvPr/>
          </p:nvSpPr>
          <p:spPr>
            <a:xfrm>
              <a:off x="1591080" y="277894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P3 – Calidad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F909885-3374-F0D0-D8BF-44F4E8F95F7A}"/>
              </a:ext>
            </a:extLst>
          </p:cNvPr>
          <p:cNvGrpSpPr/>
          <p:nvPr/>
        </p:nvGrpSpPr>
        <p:grpSpPr>
          <a:xfrm>
            <a:off x="457200" y="3357546"/>
            <a:ext cx="8229600" cy="460519"/>
            <a:chOff x="457200" y="3321875"/>
            <a:chExt cx="6047362" cy="460519"/>
          </a:xfrm>
        </p:grpSpPr>
        <p:sp>
          <p:nvSpPr>
            <p:cNvPr id="94" name="Shape 13">
              <a:extLst>
                <a:ext uri="{FF2B5EF4-FFF2-40B4-BE49-F238E27FC236}">
                  <a16:creationId xmlns:a16="http://schemas.microsoft.com/office/drawing/2014/main" id="{0BD5A30A-15BC-56A1-37DC-04731C699BA1}"/>
                </a:ext>
              </a:extLst>
            </p:cNvPr>
            <p:cNvSpPr/>
            <p:nvPr/>
          </p:nvSpPr>
          <p:spPr>
            <a:xfrm>
              <a:off x="457200" y="3321875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62DEC0E2-B264-5269-81C1-942ADD3E6645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8" name="Text 15">
              <a:extLst>
                <a:ext uri="{FF2B5EF4-FFF2-40B4-BE49-F238E27FC236}">
                  <a16:creationId xmlns:a16="http://schemas.microsoft.com/office/drawing/2014/main" id="{3AF7A5D6-9C34-D3C5-482C-1088F064D74D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05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0" name="Text 16">
              <a:extLst>
                <a:ext uri="{FF2B5EF4-FFF2-40B4-BE49-F238E27FC236}">
                  <a16:creationId xmlns:a16="http://schemas.microsoft.com/office/drawing/2014/main" id="{15DB3DCE-5806-8EF4-9321-C54300BA655A}"/>
                </a:ext>
              </a:extLst>
            </p:cNvPr>
            <p:cNvSpPr/>
            <p:nvPr/>
          </p:nvSpPr>
          <p:spPr>
            <a:xfrm>
              <a:off x="1591080" y="3321875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Conclusiones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recomendaciones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CD0A98-336E-0755-6C44-4BEA97E7FDC8}"/>
              </a:ext>
            </a:extLst>
          </p:cNvPr>
          <p:cNvGrpSpPr/>
          <p:nvPr/>
        </p:nvGrpSpPr>
        <p:grpSpPr>
          <a:xfrm>
            <a:off x="457200" y="3942622"/>
            <a:ext cx="8229600" cy="460519"/>
            <a:chOff x="457200" y="3864802"/>
            <a:chExt cx="6047362" cy="460519"/>
          </a:xfrm>
        </p:grpSpPr>
        <p:sp>
          <p:nvSpPr>
            <p:cNvPr id="102" name="Shape 13">
              <a:extLst>
                <a:ext uri="{FF2B5EF4-FFF2-40B4-BE49-F238E27FC236}">
                  <a16:creationId xmlns:a16="http://schemas.microsoft.com/office/drawing/2014/main" id="{0E0425AD-C6B1-B0F7-A6E9-84C85563C29A}"/>
                </a:ext>
              </a:extLst>
            </p:cNvPr>
            <p:cNvSpPr/>
            <p:nvPr/>
          </p:nvSpPr>
          <p:spPr>
            <a:xfrm>
              <a:off x="457200" y="3864802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4" name="Shape 14">
              <a:extLst>
                <a:ext uri="{FF2B5EF4-FFF2-40B4-BE49-F238E27FC236}">
                  <a16:creationId xmlns:a16="http://schemas.microsoft.com/office/drawing/2014/main" id="{6F81D97B-453A-6A26-2163-7C45706EACC1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6" name="Text 15">
              <a:extLst>
                <a:ext uri="{FF2B5EF4-FFF2-40B4-BE49-F238E27FC236}">
                  <a16:creationId xmlns:a16="http://schemas.microsoft.com/office/drawing/2014/main" id="{F9485909-B1C1-9EE9-F647-DF1EAA1D929E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06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8" name="Text 16">
              <a:extLst>
                <a:ext uri="{FF2B5EF4-FFF2-40B4-BE49-F238E27FC236}">
                  <a16:creationId xmlns:a16="http://schemas.microsoft.com/office/drawing/2014/main" id="{8833A7FA-80D6-53C6-96A4-413DA06FF99E}"/>
                </a:ext>
              </a:extLst>
            </p:cNvPr>
            <p:cNvSpPr/>
            <p:nvPr/>
          </p:nvSpPr>
          <p:spPr>
            <a:xfrm>
              <a:off x="1591080" y="3864802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Anexos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84EB4-212C-D877-CE64-CFFD34DB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35D36F-41DB-4AD1-106F-0D4C59A86B3B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A32B2-94F2-F023-A259-7CBDE32AE51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021C4F-3690-6595-116F-412436BC3189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Analizamos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datos de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tres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fuentes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oficiales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: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ofrece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Administración,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sabe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hacer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población y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realmente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usa</a:t>
            </a:r>
            <a:endParaRPr lang="en-US" sz="2000">
              <a:solidFill>
                <a:srgbClr val="1A1A24"/>
              </a:solidFill>
              <a:latin typeface="EYInterstate"/>
              <a:cs typeface="Arial"/>
            </a:endParaRPr>
          </a:p>
          <a:p>
            <a:endParaRPr lang="en-US" sz="2000">
              <a:solidFill>
                <a:srgbClr val="1A1A24"/>
              </a:solidFill>
              <a:latin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71DF2-C825-534C-0731-C1104F012466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59E1AB-B079-0DB5-62E0-17BB3452BF11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Comisión Europea, eGovernment Benchmark 2025; Eurostat isoc_sk_dskl_i21 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2025. UE-27, población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endParaRPr lang="en-US" sz="700">
              <a:solidFill>
                <a:srgbClr val="747480"/>
              </a:solidFill>
              <a:latin typeface="EYInterstate" panose="02000503020000020004" pitchFamily="2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6B4DE-0EA0-890E-C5C9-7ED31DBBC65B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85A0F7-5218-0549-E11C-1A4194D136FA}"/>
              </a:ext>
            </a:extLst>
          </p:cNvPr>
          <p:cNvSpPr/>
          <p:nvPr/>
        </p:nvSpPr>
        <p:spPr>
          <a:xfrm>
            <a:off x="457200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7571BD-42C9-C071-FE0E-1409706F81CE}"/>
              </a:ext>
            </a:extLst>
          </p:cNvPr>
          <p:cNvSpPr/>
          <p:nvPr/>
        </p:nvSpPr>
        <p:spPr>
          <a:xfrm>
            <a:off x="640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651BCD-68CA-DD0F-7069-0848669C1D1F}"/>
              </a:ext>
            </a:extLst>
          </p:cNvPr>
          <p:cNvSpPr/>
          <p:nvPr/>
        </p:nvSpPr>
        <p:spPr>
          <a:xfrm>
            <a:off x="6400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  |  0-100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B4B9CFB-550F-2C73-20CC-829914157BE4}"/>
              </a:ext>
            </a:extLst>
          </p:cNvPr>
          <p:cNvSpPr/>
          <p:nvPr/>
        </p:nvSpPr>
        <p:spPr>
          <a:xfrm>
            <a:off x="3273552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01222D-0665-071E-96EE-02C587C01938}"/>
              </a:ext>
            </a:extLst>
          </p:cNvPr>
          <p:cNvSpPr/>
          <p:nvPr/>
        </p:nvSpPr>
        <p:spPr>
          <a:xfrm>
            <a:off x="3456432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4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6EFEBD-7F59-AFB1-2917-C4E8B1877B9E}"/>
              </a:ext>
            </a:extLst>
          </p:cNvPr>
          <p:cNvSpPr/>
          <p:nvPr/>
        </p:nvSpPr>
        <p:spPr>
          <a:xfrm>
            <a:off x="3456432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DSI 2.0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F7FC1B-BED2-6326-4FED-361EA4F1A3B0}"/>
              </a:ext>
            </a:extLst>
          </p:cNvPr>
          <p:cNvSpPr/>
          <p:nvPr/>
        </p:nvSpPr>
        <p:spPr>
          <a:xfrm>
            <a:off x="6089904" y="1463040"/>
            <a:ext cx="2606040" cy="132588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949143-C09C-6343-D61E-8B3F8C096551}"/>
              </a:ext>
            </a:extLst>
          </p:cNvPr>
          <p:cNvSpPr/>
          <p:nvPr/>
        </p:nvSpPr>
        <p:spPr>
          <a:xfrm>
            <a:off x="6272784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de la Administración online</a:t>
            </a:r>
            <a:endParaRPr lang="en-US" sz="1400">
              <a:latin typeface="EYInterstate" panose="02000503020000020004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5918ED-D2E7-21A8-4989-C7A4286C8B82}"/>
              </a:ext>
            </a:extLst>
          </p:cNvPr>
          <p:cNvSpPr/>
          <p:nvPr/>
        </p:nvSpPr>
        <p:spPr>
          <a:xfrm>
            <a:off x="6272784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I_IUGOV1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3310E1-DB29-9928-241C-8ADE7F18E6C4}"/>
              </a:ext>
            </a:extLst>
          </p:cNvPr>
          <p:cNvSpPr/>
          <p:nvPr/>
        </p:nvSpPr>
        <p:spPr>
          <a:xfrm>
            <a:off x="4572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2200" b="1">
              <a:latin typeface="EYInterstate" panose="02000503020000020004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062674-2AD0-8FBE-1B36-140F38D6A7E5}"/>
              </a:ext>
            </a:extLst>
          </p:cNvPr>
          <p:cNvSpPr/>
          <p:nvPr/>
        </p:nvSpPr>
        <p:spPr>
          <a:xfrm>
            <a:off x="457200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7C2159B-65A3-ECFA-F0A6-C607319BBAD0}"/>
              </a:ext>
            </a:extLst>
          </p:cNvPr>
          <p:cNvSpPr/>
          <p:nvPr/>
        </p:nvSpPr>
        <p:spPr>
          <a:xfrm>
            <a:off x="45720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¿Qué componentes de la calidad marcan la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diferencia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9E80862-243D-EC44-6D67-24EB86FD30AB}"/>
              </a:ext>
            </a:extLst>
          </p:cNvPr>
          <p:cNvSpPr/>
          <p:nvPr/>
        </p:nvSpPr>
        <p:spPr>
          <a:xfrm>
            <a:off x="3273552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570A4D-5947-56BD-26CE-D02E2F553698}"/>
              </a:ext>
            </a:extLst>
          </p:cNvPr>
          <p:cNvSpPr/>
          <p:nvPr/>
        </p:nvSpPr>
        <p:spPr>
          <a:xfrm>
            <a:off x="3273552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910052-147E-9471-549F-07975684DFC9}"/>
              </a:ext>
            </a:extLst>
          </p:cNvPr>
          <p:cNvSpPr/>
          <p:nvPr/>
        </p:nvSpPr>
        <p:spPr>
          <a:xfrm>
            <a:off x="327355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explican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1CC8873-8887-9716-C786-93B8C0244F7C}"/>
              </a:ext>
            </a:extLst>
          </p:cNvPr>
          <p:cNvSpPr/>
          <p:nvPr/>
        </p:nvSpPr>
        <p:spPr>
          <a:xfrm>
            <a:off x="608990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6357FE7-0618-799A-5A05-8410EA14A1C5}"/>
              </a:ext>
            </a:extLst>
          </p:cNvPr>
          <p:cNvSpPr/>
          <p:nvPr/>
        </p:nvSpPr>
        <p:spPr>
          <a:xfrm>
            <a:off x="6089904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C69C41-E5DB-2B47-A8A0-F732EE04FDF0}"/>
              </a:ext>
            </a:extLst>
          </p:cNvPr>
          <p:cNvSpPr/>
          <p:nvPr/>
        </p:nvSpPr>
        <p:spPr>
          <a:xfrm>
            <a:off x="6089904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mejores plataformas se usan más?</a:t>
            </a:r>
            <a:endParaRPr lang="en-US" sz="11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40B21-35B2-DFAA-B32C-9094FB3C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04B212-8F71-EC76-A8A6-3B270C75031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585141-2679-DC1A-D021-E61F9F19222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 · CALIDAD DE LA PLATAFORMA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AC4A3B-C205-7C1E-4DDF-EA6EF8392E86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España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supera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media UE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pierde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puntos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397B1C-E43B-BAFB-E144-5440E02DC3CF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475AD-E944-BA6C-D95A-A254291E96AB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2025.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Puntuación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0-100, media de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España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83804B-625A-C39F-2618-262C79AEF54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</a:t>
            </a:r>
            <a:endParaRPr lang="en-US" sz="80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DBCFA1-2571-BA20-F7B3-A461A92D2E3B}"/>
              </a:ext>
            </a:extLst>
          </p:cNvPr>
          <p:cNvGrpSpPr/>
          <p:nvPr/>
        </p:nvGrpSpPr>
        <p:grpSpPr>
          <a:xfrm>
            <a:off x="5512479" y="1129675"/>
            <a:ext cx="2651760" cy="850392"/>
            <a:chOff x="6172200" y="1325880"/>
            <a:chExt cx="2651760" cy="850392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CB1C1AA-3A70-0100-DE3B-535A1C696FBC}"/>
                </a:ext>
              </a:extLst>
            </p:cNvPr>
            <p:cNvSpPr/>
            <p:nvPr/>
          </p:nvSpPr>
          <p:spPr>
            <a:xfrm>
              <a:off x="61722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79,1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3EF23CDC-EA96-487D-294B-CDA6A59838D6}"/>
                </a:ext>
              </a:extLst>
            </p:cNvPr>
            <p:cNvSpPr/>
            <p:nvPr/>
          </p:nvSpPr>
          <p:spPr>
            <a:xfrm>
              <a:off x="61722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 España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3B20111-253C-F589-BE15-FF44C22D3D29}"/>
                </a:ext>
              </a:extLst>
            </p:cNvPr>
            <p:cNvSpPr/>
            <p:nvPr/>
          </p:nvSpPr>
          <p:spPr>
            <a:xfrm>
              <a:off x="75438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74,7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0068CF4-74D9-DDAF-84A5-34B2A433E0BE}"/>
                </a:ext>
              </a:extLst>
            </p:cNvPr>
            <p:cNvSpPr/>
            <p:nvPr/>
          </p:nvSpPr>
          <p:spPr>
            <a:xfrm>
              <a:off x="75438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255EAA6-24CC-FC6E-7413-26CD7E228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963262"/>
              </p:ext>
            </p:extLst>
          </p:nvPr>
        </p:nvGraphicFramePr>
        <p:xfrm>
          <a:off x="4350306" y="1849712"/>
          <a:ext cx="4285930" cy="2745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4275C-EFBE-4036-B8B4-86C5C4C8B64A}"/>
              </a:ext>
            </a:extLst>
          </p:cNvPr>
          <p:cNvGrpSpPr/>
          <p:nvPr/>
        </p:nvGrpSpPr>
        <p:grpSpPr>
          <a:xfrm>
            <a:off x="521208" y="1234439"/>
            <a:ext cx="3624997" cy="3360405"/>
            <a:chOff x="521208" y="1541754"/>
            <a:chExt cx="3335867" cy="31148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662B7C-1EF1-FA8E-FAC0-F665D0CC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3" t="19706" r="1857"/>
            <a:stretch>
              <a:fillRect/>
            </a:stretch>
          </p:blipFill>
          <p:spPr>
            <a:xfrm>
              <a:off x="521208" y="1928644"/>
              <a:ext cx="3335867" cy="27279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3949B3-AB24-A655-DD59-207BCE518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95" t="2803" r="1219" b="85337"/>
            <a:stretch>
              <a:fillRect/>
            </a:stretch>
          </p:blipFill>
          <p:spPr>
            <a:xfrm>
              <a:off x="521208" y="1541754"/>
              <a:ext cx="3335867" cy="3912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21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2FEA3-1274-3298-1602-9E76B20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EEF6A-4545-97A4-A099-0E6EB7549FE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5ED07F-AE7B-5A6C-F080-3414669844E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 · COMPETENCIAS → USO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1E9026-5C9F-9BE8-34AD-65EC9FF2EB7A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población con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mayor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76471E-5072-86FB-AE27-042BD5ACC292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D403C0-BD7F-303D-8EFC-2124B76EE707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Eurostat, 2025. UE-27,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Cada punto es un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DC9B4E-91E3-8AE9-90EC-6BF1DBEF97E2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</a:t>
            </a:r>
            <a:endParaRPr lang="en-US" sz="80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5AE2964-DEB0-F632-EE02-1101A73413BD}"/>
              </a:ext>
            </a:extLst>
          </p:cNvPr>
          <p:cNvGrpSpPr/>
          <p:nvPr/>
        </p:nvGrpSpPr>
        <p:grpSpPr>
          <a:xfrm>
            <a:off x="360000" y="1368000"/>
            <a:ext cx="4860063" cy="3209544"/>
            <a:chOff x="619659" y="1335024"/>
            <a:chExt cx="5671413" cy="3209544"/>
          </a:xfrm>
        </p:grpSpPr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E452AC4-DBC2-ABCC-479F-83833670992E}"/>
                </a:ext>
              </a:extLst>
            </p:cNvPr>
            <p:cNvSpPr/>
            <p:nvPr/>
          </p:nvSpPr>
          <p:spPr>
            <a:xfrm>
              <a:off x="5152644" y="150876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lang="en-US" sz="700">
                <a:latin typeface="EYInterstate" panose="0200050302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3AFD22E-B8E5-CBE6-1B84-BF153F53463B}"/>
                </a:ext>
              </a:extLst>
            </p:cNvPr>
            <p:cNvGrpSpPr/>
            <p:nvPr/>
          </p:nvGrpSpPr>
          <p:grpSpPr>
            <a:xfrm>
              <a:off x="619659" y="1335024"/>
              <a:ext cx="5671413" cy="3209544"/>
              <a:chOff x="619659" y="1335024"/>
              <a:chExt cx="5671413" cy="3209544"/>
            </a:xfrm>
          </p:grpSpPr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518BC9E-EDF7-5E95-6BD5-740F0066CB69}"/>
                  </a:ext>
                </a:extLst>
              </p:cNvPr>
              <p:cNvSpPr/>
              <p:nvPr/>
            </p:nvSpPr>
            <p:spPr>
              <a:xfrm>
                <a:off x="5486400" y="4187952"/>
                <a:ext cx="5486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90%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sp>
            <p:nvSpPr>
              <p:cNvPr id="32" name="Text 30">
                <a:extLst>
                  <a:ext uri="{FF2B5EF4-FFF2-40B4-BE49-F238E27FC236}">
                    <a16:creationId xmlns:a16="http://schemas.microsoft.com/office/drawing/2014/main" id="{D96AF8A2-C98D-61CE-C872-FA2F19066F9B}"/>
                  </a:ext>
                </a:extLst>
              </p:cNvPr>
              <p:cNvSpPr/>
              <p:nvPr/>
            </p:nvSpPr>
            <p:spPr>
              <a:xfrm>
                <a:off x="5376672" y="1691640"/>
                <a:ext cx="914400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Países Bajos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97ECFA9-1074-F768-5B08-E4088D5E1D6F}"/>
                  </a:ext>
                </a:extLst>
              </p:cNvPr>
              <p:cNvGrpSpPr/>
              <p:nvPr/>
            </p:nvGrpSpPr>
            <p:grpSpPr>
              <a:xfrm>
                <a:off x="619659" y="1335024"/>
                <a:ext cx="5141061" cy="3209544"/>
                <a:chOff x="619659" y="1335024"/>
                <a:chExt cx="5141061" cy="3209544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0D330B29-8155-EC23-DC89-1B34C5995DDB}"/>
                    </a:ext>
                  </a:extLst>
                </p:cNvPr>
                <p:cNvSpPr/>
                <p:nvPr/>
              </p:nvSpPr>
              <p:spPr>
                <a:xfrm>
                  <a:off x="1280160" y="4160520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BC3145AD-E4D7-292B-575B-ACA709BC6B30}"/>
                    </a:ext>
                  </a:extLst>
                </p:cNvPr>
                <p:cNvSpPr/>
                <p:nvPr/>
              </p:nvSpPr>
              <p:spPr>
                <a:xfrm>
                  <a:off x="128016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0" name="Text 8">
                  <a:extLst>
                    <a:ext uri="{FF2B5EF4-FFF2-40B4-BE49-F238E27FC236}">
                      <a16:creationId xmlns:a16="http://schemas.microsoft.com/office/drawing/2014/main" id="{F12C936E-7AA2-8405-BB4B-144865016285}"/>
                    </a:ext>
                  </a:extLst>
                </p:cNvPr>
                <p:cNvSpPr/>
                <p:nvPr/>
              </p:nvSpPr>
              <p:spPr>
                <a:xfrm>
                  <a:off x="10058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30%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B000C7A0-1DC2-9900-A5DC-72ECB4570346}"/>
                    </a:ext>
                  </a:extLst>
                </p:cNvPr>
                <p:cNvSpPr/>
                <p:nvPr/>
              </p:nvSpPr>
              <p:spPr>
                <a:xfrm>
                  <a:off x="175260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73DF3E54-9EA4-FA77-DD9D-237520C3D110}"/>
                    </a:ext>
                  </a:extLst>
                </p:cNvPr>
                <p:cNvSpPr/>
                <p:nvPr/>
              </p:nvSpPr>
              <p:spPr>
                <a:xfrm>
                  <a:off x="249936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50%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B347CC28-253B-0A1A-F08F-4500283F6385}"/>
                    </a:ext>
                  </a:extLst>
                </p:cNvPr>
                <p:cNvSpPr/>
                <p:nvPr/>
              </p:nvSpPr>
              <p:spPr>
                <a:xfrm>
                  <a:off x="324612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A6A17AD0-049C-E01D-855F-6950C43F9AE1}"/>
                    </a:ext>
                  </a:extLst>
                </p:cNvPr>
                <p:cNvSpPr/>
                <p:nvPr/>
              </p:nvSpPr>
              <p:spPr>
                <a:xfrm>
                  <a:off x="399288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70%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EED1F776-B261-1AB2-03F0-E33FAB7BDE83}"/>
                    </a:ext>
                  </a:extLst>
                </p:cNvPr>
                <p:cNvSpPr/>
                <p:nvPr/>
              </p:nvSpPr>
              <p:spPr>
                <a:xfrm>
                  <a:off x="47396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114C026F-9E8A-C628-2902-305DE9AF9A7D}"/>
                    </a:ext>
                  </a:extLst>
                </p:cNvPr>
                <p:cNvSpPr/>
                <p:nvPr/>
              </p:nvSpPr>
              <p:spPr>
                <a:xfrm>
                  <a:off x="868680" y="37734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20%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71C2CA1D-C2FA-4BF9-CB89-54370741BDA0}"/>
                    </a:ext>
                  </a:extLst>
                </p:cNvPr>
                <p:cNvSpPr/>
                <p:nvPr/>
              </p:nvSpPr>
              <p:spPr>
                <a:xfrm>
                  <a:off x="868680" y="31638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15B7A5E5-33AF-24C2-3561-681D653CB6D9}"/>
                    </a:ext>
                  </a:extLst>
                </p:cNvPr>
                <p:cNvSpPr/>
                <p:nvPr/>
              </p:nvSpPr>
              <p:spPr>
                <a:xfrm>
                  <a:off x="868680" y="25542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0" name="Text 18">
                  <a:extLst>
                    <a:ext uri="{FF2B5EF4-FFF2-40B4-BE49-F238E27FC236}">
                      <a16:creationId xmlns:a16="http://schemas.microsoft.com/office/drawing/2014/main" id="{7E7BE84E-2C64-06D6-0C7B-8AD3E794773E}"/>
                    </a:ext>
                  </a:extLst>
                </p:cNvPr>
                <p:cNvSpPr/>
                <p:nvPr/>
              </p:nvSpPr>
              <p:spPr>
                <a:xfrm>
                  <a:off x="868680" y="19446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1" name="Text 19">
                  <a:extLst>
                    <a:ext uri="{FF2B5EF4-FFF2-40B4-BE49-F238E27FC236}">
                      <a16:creationId xmlns:a16="http://schemas.microsoft.com/office/drawing/2014/main" id="{C423F126-E748-A29E-46AD-FB32E5021481}"/>
                    </a:ext>
                  </a:extLst>
                </p:cNvPr>
                <p:cNvSpPr/>
                <p:nvPr/>
              </p:nvSpPr>
              <p:spPr>
                <a:xfrm>
                  <a:off x="868680" y="13350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100%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82BA0922-F019-3493-9976-6D1A6B9976E3}"/>
                    </a:ext>
                  </a:extLst>
                </p:cNvPr>
                <p:cNvSpPr/>
                <p:nvPr/>
              </p:nvSpPr>
              <p:spPr>
                <a:xfrm>
                  <a:off x="1280160" y="4361688"/>
                  <a:ext cx="448056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(%) Población con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competencias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digitales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básicas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8A6EF86D-63CB-25ED-E01B-AF60840AA19A}"/>
                    </a:ext>
                  </a:extLst>
                </p:cNvPr>
                <p:cNvSpPr/>
                <p:nvPr/>
              </p:nvSpPr>
              <p:spPr>
                <a:xfrm>
                  <a:off x="619659" y="1417320"/>
                  <a:ext cx="228600" cy="274320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0" tIns="0" rIns="0" bIns="0" rtlCol="0" anchor="ctr"/>
                <a:lstStyle/>
                <a:p>
                  <a:pPr algn="ctr"/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(%) Uso Administración online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4" name="Shape 22">
                  <a:extLst>
                    <a:ext uri="{FF2B5EF4-FFF2-40B4-BE49-F238E27FC236}">
                      <a16:creationId xmlns:a16="http://schemas.microsoft.com/office/drawing/2014/main" id="{3D704E48-A2CB-E364-8B0A-5FB3B094BA24}"/>
                    </a:ext>
                  </a:extLst>
                </p:cNvPr>
                <p:cNvSpPr/>
                <p:nvPr/>
              </p:nvSpPr>
              <p:spPr>
                <a:xfrm>
                  <a:off x="355031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5" name="Shape 23">
                  <a:extLst>
                    <a:ext uri="{FF2B5EF4-FFF2-40B4-BE49-F238E27FC236}">
                      <a16:creationId xmlns:a16="http://schemas.microsoft.com/office/drawing/2014/main" id="{52F70565-3C8F-CA42-5C27-D6BFB3A9650A}"/>
                    </a:ext>
                  </a:extLst>
                </p:cNvPr>
                <p:cNvSpPr/>
                <p:nvPr/>
              </p:nvSpPr>
              <p:spPr>
                <a:xfrm>
                  <a:off x="1280160" y="2706624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6" name="Text 24">
                  <a:extLst>
                    <a:ext uri="{FF2B5EF4-FFF2-40B4-BE49-F238E27FC236}">
                      <a16:creationId xmlns:a16="http://schemas.microsoft.com/office/drawing/2014/main" id="{7BB18380-3419-4B1C-2A9E-127043944910}"/>
                    </a:ext>
                  </a:extLst>
                </p:cNvPr>
                <p:cNvSpPr/>
                <p:nvPr/>
              </p:nvSpPr>
              <p:spPr>
                <a:xfrm>
                  <a:off x="5029200" y="2523744"/>
                  <a:ext cx="731520" cy="1554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65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Media UE</a:t>
                  </a:r>
                  <a:endParaRPr lang="en-US" sz="6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7" name="Shape 25">
                  <a:extLst>
                    <a:ext uri="{FF2B5EF4-FFF2-40B4-BE49-F238E27FC236}">
                      <a16:creationId xmlns:a16="http://schemas.microsoft.com/office/drawing/2014/main" id="{E420965C-8EE4-7940-C5D3-9E4D99A93CD7}"/>
                    </a:ext>
                  </a:extLst>
                </p:cNvPr>
                <p:cNvSpPr/>
                <p:nvPr/>
              </p:nvSpPr>
              <p:spPr>
                <a:xfrm flipV="1">
                  <a:off x="1429512" y="1783613"/>
                  <a:ext cx="3883152" cy="1628384"/>
                </a:xfrm>
                <a:prstGeom prst="line">
                  <a:avLst/>
                </a:prstGeom>
                <a:noFill/>
                <a:ln w="12700">
                  <a:solidFill>
                    <a:srgbClr val="2E2E38"/>
                  </a:solidFill>
                  <a:prstDash val="sysDot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8" name="Shape 26">
                  <a:extLst>
                    <a:ext uri="{FF2B5EF4-FFF2-40B4-BE49-F238E27FC236}">
                      <a16:creationId xmlns:a16="http://schemas.microsoft.com/office/drawing/2014/main" id="{748A1330-D15F-C5C6-A383-F06B9428CF65}"/>
                    </a:ext>
                  </a:extLst>
                </p:cNvPr>
                <p:cNvSpPr/>
                <p:nvPr/>
              </p:nvSpPr>
              <p:spPr>
                <a:xfrm>
                  <a:off x="5038344" y="16413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0" name="Shape 28">
                  <a:extLst>
                    <a:ext uri="{FF2B5EF4-FFF2-40B4-BE49-F238E27FC236}">
                      <a16:creationId xmlns:a16="http://schemas.microsoft.com/office/drawing/2014/main" id="{2E9A884F-AE66-39F1-AA05-62C703090686}"/>
                    </a:ext>
                  </a:extLst>
                </p:cNvPr>
                <p:cNvSpPr/>
                <p:nvPr/>
              </p:nvSpPr>
              <p:spPr>
                <a:xfrm>
                  <a:off x="5075682" y="16565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1" name="Shape 29">
                  <a:extLst>
                    <a:ext uri="{FF2B5EF4-FFF2-40B4-BE49-F238E27FC236}">
                      <a16:creationId xmlns:a16="http://schemas.microsoft.com/office/drawing/2014/main" id="{BC0A81DB-89B0-8A52-C1B4-87B9CDC0F6DD}"/>
                    </a:ext>
                  </a:extLst>
                </p:cNvPr>
                <p:cNvSpPr/>
                <p:nvPr/>
              </p:nvSpPr>
              <p:spPr>
                <a:xfrm>
                  <a:off x="5262372" y="18242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3" name="Shape 31">
                  <a:extLst>
                    <a:ext uri="{FF2B5EF4-FFF2-40B4-BE49-F238E27FC236}">
                      <a16:creationId xmlns:a16="http://schemas.microsoft.com/office/drawing/2014/main" id="{DC35D3D6-369F-CD12-1BA0-09FE665DC34B}"/>
                    </a:ext>
                  </a:extLst>
                </p:cNvPr>
                <p:cNvSpPr/>
                <p:nvPr/>
              </p:nvSpPr>
              <p:spPr>
                <a:xfrm>
                  <a:off x="5187696" y="21595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4" name="Shape 32">
                  <a:extLst>
                    <a:ext uri="{FF2B5EF4-FFF2-40B4-BE49-F238E27FC236}">
                      <a16:creationId xmlns:a16="http://schemas.microsoft.com/office/drawing/2014/main" id="{51770775-140D-6C75-BDB4-99C47CCD3F81}"/>
                    </a:ext>
                  </a:extLst>
                </p:cNvPr>
                <p:cNvSpPr/>
                <p:nvPr/>
              </p:nvSpPr>
              <p:spPr>
                <a:xfrm>
                  <a:off x="4216908" y="18547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5" name="Shape 33">
                  <a:extLst>
                    <a:ext uri="{FF2B5EF4-FFF2-40B4-BE49-F238E27FC236}">
                      <a16:creationId xmlns:a16="http://schemas.microsoft.com/office/drawing/2014/main" id="{53E794EE-5395-8EEC-666B-62A1DAB17908}"/>
                    </a:ext>
                  </a:extLst>
                </p:cNvPr>
                <p:cNvSpPr/>
                <p:nvPr/>
              </p:nvSpPr>
              <p:spPr>
                <a:xfrm>
                  <a:off x="3619500" y="18851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6" name="Shape 34">
                  <a:extLst>
                    <a:ext uri="{FF2B5EF4-FFF2-40B4-BE49-F238E27FC236}">
                      <a16:creationId xmlns:a16="http://schemas.microsoft.com/office/drawing/2014/main" id="{944A64AC-6E14-7816-AFEC-3CF24D05DD10}"/>
                    </a:ext>
                  </a:extLst>
                </p:cNvPr>
                <p:cNvSpPr/>
                <p:nvPr/>
              </p:nvSpPr>
              <p:spPr>
                <a:xfrm>
                  <a:off x="3619500" y="2098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7" name="Shape 35">
                  <a:extLst>
                    <a:ext uri="{FF2B5EF4-FFF2-40B4-BE49-F238E27FC236}">
                      <a16:creationId xmlns:a16="http://schemas.microsoft.com/office/drawing/2014/main" id="{9C7C7B4D-1B37-2ECF-6B8E-8B9F742A6F19}"/>
                    </a:ext>
                  </a:extLst>
                </p:cNvPr>
                <p:cNvSpPr/>
                <p:nvPr/>
              </p:nvSpPr>
              <p:spPr>
                <a:xfrm>
                  <a:off x="3694176" y="22814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8" name="Shape 36">
                  <a:extLst>
                    <a:ext uri="{FF2B5EF4-FFF2-40B4-BE49-F238E27FC236}">
                      <a16:creationId xmlns:a16="http://schemas.microsoft.com/office/drawing/2014/main" id="{8F86883A-6D57-5AE5-E922-41EF0817BE17}"/>
                    </a:ext>
                  </a:extLst>
                </p:cNvPr>
                <p:cNvSpPr/>
                <p:nvPr/>
              </p:nvSpPr>
              <p:spPr>
                <a:xfrm>
                  <a:off x="4216908" y="23728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9" name="Shape 37">
                  <a:extLst>
                    <a:ext uri="{FF2B5EF4-FFF2-40B4-BE49-F238E27FC236}">
                      <a16:creationId xmlns:a16="http://schemas.microsoft.com/office/drawing/2014/main" id="{A1A12A3F-A0CB-2D51-F641-B8577803E749}"/>
                    </a:ext>
                  </a:extLst>
                </p:cNvPr>
                <p:cNvSpPr/>
                <p:nvPr/>
              </p:nvSpPr>
              <p:spPr>
                <a:xfrm>
                  <a:off x="3992880" y="24338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0" name="Shape 38">
                  <a:extLst>
                    <a:ext uri="{FF2B5EF4-FFF2-40B4-BE49-F238E27FC236}">
                      <a16:creationId xmlns:a16="http://schemas.microsoft.com/office/drawing/2014/main" id="{2EE1B0E2-5B4E-1A48-8AD5-A261F0D9A33C}"/>
                    </a:ext>
                  </a:extLst>
                </p:cNvPr>
                <p:cNvSpPr/>
                <p:nvPr/>
              </p:nvSpPr>
              <p:spPr>
                <a:xfrm>
                  <a:off x="3955542" y="24490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1" name="Shape 39">
                  <a:extLst>
                    <a:ext uri="{FF2B5EF4-FFF2-40B4-BE49-F238E27FC236}">
                      <a16:creationId xmlns:a16="http://schemas.microsoft.com/office/drawing/2014/main" id="{40AF8C8B-6AA7-C51F-9F33-54EAC27719FC}"/>
                    </a:ext>
                  </a:extLst>
                </p:cNvPr>
                <p:cNvSpPr/>
                <p:nvPr/>
              </p:nvSpPr>
              <p:spPr>
                <a:xfrm>
                  <a:off x="3869435" y="2467356"/>
                  <a:ext cx="176786" cy="142920"/>
                </a:xfrm>
                <a:prstGeom prst="ellipse">
                  <a:avLst/>
                </a:prstGeom>
                <a:solidFill>
                  <a:srgbClr val="FFE600"/>
                </a:solidFill>
                <a:ln w="12700">
                  <a:solidFill>
                    <a:srgbClr val="1A1A24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2" name="Text 40">
                  <a:extLst>
                    <a:ext uri="{FF2B5EF4-FFF2-40B4-BE49-F238E27FC236}">
                      <a16:creationId xmlns:a16="http://schemas.microsoft.com/office/drawing/2014/main" id="{2FCE562A-05AA-289D-0E40-F2D7B6C7A655}"/>
                    </a:ext>
                  </a:extLst>
                </p:cNvPr>
                <p:cNvSpPr/>
                <p:nvPr/>
              </p:nvSpPr>
              <p:spPr>
                <a:xfrm>
                  <a:off x="4032504" y="23622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50" b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España</a:t>
                  </a:r>
                  <a:endParaRPr lang="en-US" sz="8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3" name="Shape 41">
                  <a:extLst>
                    <a:ext uri="{FF2B5EF4-FFF2-40B4-BE49-F238E27FC236}">
                      <a16:creationId xmlns:a16="http://schemas.microsoft.com/office/drawing/2014/main" id="{0126B868-FBEC-4C67-CDE1-02EFDC3CDB97}"/>
                    </a:ext>
                  </a:extLst>
                </p:cNvPr>
                <p:cNvSpPr/>
                <p:nvPr/>
              </p:nvSpPr>
              <p:spPr>
                <a:xfrm>
                  <a:off x="4179570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4" name="Shape 42">
                  <a:extLst>
                    <a:ext uri="{FF2B5EF4-FFF2-40B4-BE49-F238E27FC236}">
                      <a16:creationId xmlns:a16="http://schemas.microsoft.com/office/drawing/2014/main" id="{C8A1852B-0BB8-FE0C-C07C-9FCD7877905E}"/>
                    </a:ext>
                  </a:extLst>
                </p:cNvPr>
                <p:cNvSpPr/>
                <p:nvPr/>
              </p:nvSpPr>
              <p:spPr>
                <a:xfrm>
                  <a:off x="3395472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5" name="Shape 43">
                  <a:extLst>
                    <a:ext uri="{FF2B5EF4-FFF2-40B4-BE49-F238E27FC236}">
                      <a16:creationId xmlns:a16="http://schemas.microsoft.com/office/drawing/2014/main" id="{518BBEB7-3057-9B6C-6BFF-B84529B2BC03}"/>
                    </a:ext>
                  </a:extLst>
                </p:cNvPr>
                <p:cNvSpPr/>
                <p:nvPr/>
              </p:nvSpPr>
              <p:spPr>
                <a:xfrm>
                  <a:off x="3694176" y="27386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6" name="Text 44">
                  <a:extLst>
                    <a:ext uri="{FF2B5EF4-FFF2-40B4-BE49-F238E27FC236}">
                      <a16:creationId xmlns:a16="http://schemas.microsoft.com/office/drawing/2014/main" id="{0834289D-0C00-A632-D1EA-5DEC10D9CF9D}"/>
                    </a:ext>
                  </a:extLst>
                </p:cNvPr>
                <p:cNvSpPr/>
                <p:nvPr/>
              </p:nvSpPr>
              <p:spPr>
                <a:xfrm>
                  <a:off x="3622691" y="2835777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 err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Croacia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7" name="Shape 45">
                  <a:extLst>
                    <a:ext uri="{FF2B5EF4-FFF2-40B4-BE49-F238E27FC236}">
                      <a16:creationId xmlns:a16="http://schemas.microsoft.com/office/drawing/2014/main" id="{9A7F1226-C406-474B-7923-B98579FA1BA9}"/>
                    </a:ext>
                  </a:extLst>
                </p:cNvPr>
                <p:cNvSpPr/>
                <p:nvPr/>
              </p:nvSpPr>
              <p:spPr>
                <a:xfrm>
                  <a:off x="3470148" y="2860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8" name="Shape 46">
                  <a:extLst>
                    <a:ext uri="{FF2B5EF4-FFF2-40B4-BE49-F238E27FC236}">
                      <a16:creationId xmlns:a16="http://schemas.microsoft.com/office/drawing/2014/main" id="{4067E68F-B802-8677-6B7D-36DD29F361BA}"/>
                    </a:ext>
                  </a:extLst>
                </p:cNvPr>
                <p:cNvSpPr/>
                <p:nvPr/>
              </p:nvSpPr>
              <p:spPr>
                <a:xfrm>
                  <a:off x="3022092" y="27691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9" name="Shape 47">
                  <a:extLst>
                    <a:ext uri="{FF2B5EF4-FFF2-40B4-BE49-F238E27FC236}">
                      <a16:creationId xmlns:a16="http://schemas.microsoft.com/office/drawing/2014/main" id="{3FFC0005-FEAB-03BF-280D-15EBE16681BB}"/>
                    </a:ext>
                  </a:extLst>
                </p:cNvPr>
                <p:cNvSpPr/>
                <p:nvPr/>
              </p:nvSpPr>
              <p:spPr>
                <a:xfrm>
                  <a:off x="2760726" y="30129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0" name="Shape 48">
                  <a:extLst>
                    <a:ext uri="{FF2B5EF4-FFF2-40B4-BE49-F238E27FC236}">
                      <a16:creationId xmlns:a16="http://schemas.microsoft.com/office/drawing/2014/main" id="{CDC39714-6652-DE5D-F89A-37193E7EF392}"/>
                    </a:ext>
                  </a:extLst>
                </p:cNvPr>
                <p:cNvSpPr/>
                <p:nvPr/>
              </p:nvSpPr>
              <p:spPr>
                <a:xfrm>
                  <a:off x="3022092" y="310438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1" name="Text 49">
                  <a:extLst>
                    <a:ext uri="{FF2B5EF4-FFF2-40B4-BE49-F238E27FC236}">
                      <a16:creationId xmlns:a16="http://schemas.microsoft.com/office/drawing/2014/main" id="{C7434BB9-298F-2E07-8D7B-B9109CBD02F7}"/>
                    </a:ext>
                  </a:extLst>
                </p:cNvPr>
                <p:cNvSpPr/>
                <p:nvPr/>
              </p:nvSpPr>
              <p:spPr>
                <a:xfrm>
                  <a:off x="3136392" y="29718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Italia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2" name="Shape 50">
                  <a:extLst>
                    <a:ext uri="{FF2B5EF4-FFF2-40B4-BE49-F238E27FC236}">
                      <a16:creationId xmlns:a16="http://schemas.microsoft.com/office/drawing/2014/main" id="{047B8226-892A-9AFA-40F8-0FD8C22DEE1E}"/>
                    </a:ext>
                  </a:extLst>
                </p:cNvPr>
                <p:cNvSpPr/>
                <p:nvPr/>
              </p:nvSpPr>
              <p:spPr>
                <a:xfrm>
                  <a:off x="1827276" y="36225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9BB3C564-2038-D96F-1445-2C671966BC13}"/>
                    </a:ext>
                  </a:extLst>
                </p:cNvPr>
                <p:cNvSpPr/>
                <p:nvPr/>
              </p:nvSpPr>
              <p:spPr>
                <a:xfrm>
                  <a:off x="1941576" y="348996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Bulgaria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4" name="Shape 52">
                  <a:extLst>
                    <a:ext uri="{FF2B5EF4-FFF2-40B4-BE49-F238E27FC236}">
                      <a16:creationId xmlns:a16="http://schemas.microsoft.com/office/drawing/2014/main" id="{B633A02D-F151-9E69-F3AA-8EFA57F5DF24}"/>
                    </a:ext>
                  </a:extLst>
                </p:cNvPr>
                <p:cNvSpPr/>
                <p:nvPr/>
              </p:nvSpPr>
              <p:spPr>
                <a:xfrm>
                  <a:off x="1379220" y="389686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5" name="Text 53">
                  <a:extLst>
                    <a:ext uri="{FF2B5EF4-FFF2-40B4-BE49-F238E27FC236}">
                      <a16:creationId xmlns:a16="http://schemas.microsoft.com/office/drawing/2014/main" id="{45995C2D-3CEE-B013-D3B1-7D08009887E0}"/>
                    </a:ext>
                  </a:extLst>
                </p:cNvPr>
                <p:cNvSpPr/>
                <p:nvPr/>
              </p:nvSpPr>
              <p:spPr>
                <a:xfrm>
                  <a:off x="1493520" y="376428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Rumanía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6" name="Shape 54">
                  <a:extLst>
                    <a:ext uri="{FF2B5EF4-FFF2-40B4-BE49-F238E27FC236}">
                      <a16:creationId xmlns:a16="http://schemas.microsoft.com/office/drawing/2014/main" id="{2408C561-E690-875B-4855-D0BC74DC8E77}"/>
                    </a:ext>
                  </a:extLst>
                </p:cNvPr>
                <p:cNvSpPr/>
                <p:nvPr/>
              </p:nvSpPr>
              <p:spPr>
                <a:xfrm>
                  <a:off x="2424684" y="22204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7" name="Shape 55">
                  <a:extLst>
                    <a:ext uri="{FF2B5EF4-FFF2-40B4-BE49-F238E27FC236}">
                      <a16:creationId xmlns:a16="http://schemas.microsoft.com/office/drawing/2014/main" id="{49A18021-9585-17A8-E4BD-400F2F6BF1F5}"/>
                    </a:ext>
                  </a:extLst>
                </p:cNvPr>
                <p:cNvSpPr/>
                <p:nvPr/>
              </p:nvSpPr>
              <p:spPr>
                <a:xfrm>
                  <a:off x="3022092" y="2250948"/>
                  <a:ext cx="100584" cy="100584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8" name="Shape 56">
                  <a:extLst>
                    <a:ext uri="{FF2B5EF4-FFF2-40B4-BE49-F238E27FC236}">
                      <a16:creationId xmlns:a16="http://schemas.microsoft.com/office/drawing/2014/main" id="{D3B9145D-7037-AD49-EC2E-EC7628209E39}"/>
                    </a:ext>
                  </a:extLst>
                </p:cNvPr>
                <p:cNvSpPr/>
                <p:nvPr/>
              </p:nvSpPr>
              <p:spPr>
                <a:xfrm>
                  <a:off x="3246120" y="21290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9" name="Shape 57">
                  <a:extLst>
                    <a:ext uri="{FF2B5EF4-FFF2-40B4-BE49-F238E27FC236}">
                      <a16:creationId xmlns:a16="http://schemas.microsoft.com/office/drawing/2014/main" id="{DE05E266-71C3-4892-FA05-AD874672DAA0}"/>
                    </a:ext>
                  </a:extLst>
                </p:cNvPr>
                <p:cNvSpPr/>
                <p:nvPr/>
              </p:nvSpPr>
              <p:spPr>
                <a:xfrm>
                  <a:off x="3171444" y="24033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0" name="Shape 58">
                  <a:extLst>
                    <a:ext uri="{FF2B5EF4-FFF2-40B4-BE49-F238E27FC236}">
                      <a16:creationId xmlns:a16="http://schemas.microsoft.com/office/drawing/2014/main" id="{C50758B9-7292-558F-5EA2-3E81A0DB11D4}"/>
                    </a:ext>
                  </a:extLst>
                </p:cNvPr>
                <p:cNvSpPr/>
                <p:nvPr/>
              </p:nvSpPr>
              <p:spPr>
                <a:xfrm>
                  <a:off x="2462022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1" name="Shape 59">
                  <a:extLst>
                    <a:ext uri="{FF2B5EF4-FFF2-40B4-BE49-F238E27FC236}">
                      <a16:creationId xmlns:a16="http://schemas.microsoft.com/office/drawing/2014/main" id="{E49FE884-B1C5-7DBD-9203-2E10F7400B5F}"/>
                    </a:ext>
                  </a:extLst>
                </p:cNvPr>
                <p:cNvSpPr/>
                <p:nvPr/>
              </p:nvSpPr>
              <p:spPr>
                <a:xfrm>
                  <a:off x="2798064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7EEE40-4A9D-2F18-A84D-DF89E4FBC027}"/>
              </a:ext>
            </a:extLst>
          </p:cNvPr>
          <p:cNvGrpSpPr/>
          <p:nvPr/>
        </p:nvGrpSpPr>
        <p:grpSpPr>
          <a:xfrm>
            <a:off x="5166870" y="2733579"/>
            <a:ext cx="3474720" cy="1936382"/>
            <a:chOff x="5257800" y="1269512"/>
            <a:chExt cx="3474720" cy="1936382"/>
          </a:xfrm>
        </p:grpSpPr>
        <p:sp>
          <p:nvSpPr>
            <p:cNvPr id="78" name="Text 5">
              <a:extLst>
                <a:ext uri="{FF2B5EF4-FFF2-40B4-BE49-F238E27FC236}">
                  <a16:creationId xmlns:a16="http://schemas.microsoft.com/office/drawing/2014/main" id="{496E00E9-5220-0192-1429-FE06982CBB56}"/>
                </a:ext>
              </a:extLst>
            </p:cNvPr>
            <p:cNvSpPr/>
            <p:nvPr/>
          </p:nvSpPr>
          <p:spPr>
            <a:xfrm>
              <a:off x="5349240" y="1269512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 </a:t>
              </a:r>
              <a:r>
                <a:rPr lang="en-US" sz="1100" b="1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edad</a:t>
              </a: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(UE-27)</a:t>
              </a:r>
              <a:endParaRPr lang="en-US" sz="1100">
                <a:latin typeface="EYInterstate" panose="02000503020000020004" pitchFamily="2" charset="0"/>
              </a:endParaRPr>
            </a:p>
          </p:txBody>
        </p:sp>
        <p:graphicFrame>
          <p:nvGraphicFramePr>
            <p:cNvPr id="80" name="Chart 1">
              <a:extLst>
                <a:ext uri="{FF2B5EF4-FFF2-40B4-BE49-F238E27FC236}">
                  <a16:creationId xmlns:a16="http://schemas.microsoft.com/office/drawing/2014/main" id="{AE8CBC77-E63D-8ED0-4A98-9C8C6E40E9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0008505"/>
                </p:ext>
              </p:extLst>
            </p:nvPr>
          </p:nvGraphicFramePr>
          <p:xfrm>
            <a:off x="5257800" y="1408176"/>
            <a:ext cx="3474720" cy="17977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36B985-7233-59BB-8EBC-1969A47A5784}"/>
              </a:ext>
            </a:extLst>
          </p:cNvPr>
          <p:cNvGrpSpPr/>
          <p:nvPr/>
        </p:nvGrpSpPr>
        <p:grpSpPr>
          <a:xfrm>
            <a:off x="5226983" y="2062258"/>
            <a:ext cx="3354494" cy="549338"/>
            <a:chOff x="5310724" y="3797255"/>
            <a:chExt cx="3354494" cy="75570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D37F6BC-813B-D738-D2A1-D5082A1B9A2B}"/>
                </a:ext>
              </a:extLst>
            </p:cNvPr>
            <p:cNvGrpSpPr/>
            <p:nvPr/>
          </p:nvGrpSpPr>
          <p:grpSpPr>
            <a:xfrm>
              <a:off x="5310724" y="3810973"/>
              <a:ext cx="3354494" cy="728273"/>
              <a:chOff x="5310724" y="3594739"/>
              <a:chExt cx="3354494" cy="930790"/>
            </a:xfrm>
          </p:grpSpPr>
          <p:sp>
            <p:nvSpPr>
              <p:cNvPr id="84" name="Shape 6">
                <a:extLst>
                  <a:ext uri="{FF2B5EF4-FFF2-40B4-BE49-F238E27FC236}">
                    <a16:creationId xmlns:a16="http://schemas.microsoft.com/office/drawing/2014/main" id="{06CA1FC4-012D-C455-204C-95CE79EF0033}"/>
                  </a:ext>
                </a:extLst>
              </p:cNvPr>
              <p:cNvSpPr/>
              <p:nvPr/>
            </p:nvSpPr>
            <p:spPr>
              <a:xfrm>
                <a:off x="5327658" y="3594739"/>
                <a:ext cx="3337560" cy="930790"/>
              </a:xfrm>
              <a:prstGeom prst="rect">
                <a:avLst/>
              </a:prstGeom>
              <a:solidFill>
                <a:srgbClr val="F6F6FA"/>
              </a:solidFill>
              <a:ln w="12700">
                <a:solidFill>
                  <a:srgbClr val="F6F6F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6" name="Shape 7">
                <a:extLst>
                  <a:ext uri="{FF2B5EF4-FFF2-40B4-BE49-F238E27FC236}">
                    <a16:creationId xmlns:a16="http://schemas.microsoft.com/office/drawing/2014/main" id="{27916D45-B951-1105-A29F-B5B9EAD8C087}"/>
                  </a:ext>
                </a:extLst>
              </p:cNvPr>
              <p:cNvSpPr/>
              <p:nvPr/>
            </p:nvSpPr>
            <p:spPr>
              <a:xfrm>
                <a:off x="5310724" y="3594739"/>
                <a:ext cx="54739" cy="930790"/>
              </a:xfrm>
              <a:prstGeom prst="rect">
                <a:avLst/>
              </a:prstGeom>
              <a:solidFill>
                <a:srgbClr val="FFE600"/>
              </a:solidFill>
              <a:ln w="12700">
                <a:solidFill>
                  <a:srgbClr val="FFE600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88" name="Text 8">
              <a:extLst>
                <a:ext uri="{FF2B5EF4-FFF2-40B4-BE49-F238E27FC236}">
                  <a16:creationId xmlns:a16="http://schemas.microsoft.com/office/drawing/2014/main" id="{B8B1EAA8-F4B0-17B0-09A0-B16535812EC9}"/>
                </a:ext>
              </a:extLst>
            </p:cNvPr>
            <p:cNvSpPr/>
            <p:nvPr/>
          </p:nvSpPr>
          <p:spPr>
            <a:xfrm>
              <a:off x="5467359" y="3797255"/>
              <a:ext cx="3108960" cy="75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está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encima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media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ambas variables</a:t>
              </a:r>
              <a:endParaRPr lang="en-US" sz="950">
                <a:latin typeface="EYInterstate" panose="02000503020000020004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84B0CF4-B7B4-686A-DE43-279EC7FD1604}"/>
              </a:ext>
            </a:extLst>
          </p:cNvPr>
          <p:cNvGrpSpPr/>
          <p:nvPr/>
        </p:nvGrpSpPr>
        <p:grpSpPr>
          <a:xfrm>
            <a:off x="6412586" y="1124784"/>
            <a:ext cx="983288" cy="815616"/>
            <a:chOff x="6172200" y="1360656"/>
            <a:chExt cx="983288" cy="815616"/>
          </a:xfrm>
        </p:grpSpPr>
        <p:sp>
          <p:nvSpPr>
            <p:cNvPr id="90" name="Text 60">
              <a:extLst>
                <a:ext uri="{FF2B5EF4-FFF2-40B4-BE49-F238E27FC236}">
                  <a16:creationId xmlns:a16="http://schemas.microsoft.com/office/drawing/2014/main" id="{9EA4AAE8-1D31-5C90-FC9D-52A7B9E8B7B8}"/>
                </a:ext>
              </a:extLst>
            </p:cNvPr>
            <p:cNvSpPr/>
            <p:nvPr/>
          </p:nvSpPr>
          <p:spPr>
            <a:xfrm>
              <a:off x="6172200" y="1360656"/>
              <a:ext cx="98328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0,78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91" name="Text 61">
              <a:extLst>
                <a:ext uri="{FF2B5EF4-FFF2-40B4-BE49-F238E27FC236}">
                  <a16:creationId xmlns:a16="http://schemas.microsoft.com/office/drawing/2014/main" id="{09A8A6F7-FC7C-8331-E8D9-37AD5BCA0B27}"/>
                </a:ext>
              </a:extLst>
            </p:cNvPr>
            <p:cNvSpPr/>
            <p:nvPr/>
          </p:nvSpPr>
          <p:spPr>
            <a:xfrm>
              <a:off x="6172200" y="1856232"/>
              <a:ext cx="9375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Correlación</a:t>
              </a: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UE </a:t>
              </a: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competencias-uso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sp>
        <p:nvSpPr>
          <p:cNvPr id="63" name="Text 44">
            <a:extLst>
              <a:ext uri="{FF2B5EF4-FFF2-40B4-BE49-F238E27FC236}">
                <a16:creationId xmlns:a16="http://schemas.microsoft.com/office/drawing/2014/main" id="{2372A9C3-BC2C-736D-A808-948397456144}"/>
              </a:ext>
            </a:extLst>
          </p:cNvPr>
          <p:cNvSpPr/>
          <p:nvPr/>
        </p:nvSpPr>
        <p:spPr>
          <a:xfrm>
            <a:off x="2160239" y="2070405"/>
            <a:ext cx="78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A1A24"/>
                </a:solidFill>
                <a:latin typeface="EYInterstate" panose="02000503020000020004" pitchFamily="2" charset="0"/>
                <a:cs typeface="Arial" pitchFamily="34" charset="-120"/>
              </a:rPr>
              <a:t>Lithuania</a:t>
            </a:r>
            <a:endParaRPr lang="en-US" sz="70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6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 · CALIDAD → USO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pesa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menos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las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 (Overall Score); Eurostat, 2025. Cada punto es un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AE1C9EF-DCB5-8940-116E-D2D65F36E2C6}"/>
              </a:ext>
            </a:extLst>
          </p:cNvPr>
          <p:cNvGrpSpPr/>
          <p:nvPr/>
        </p:nvGrpSpPr>
        <p:grpSpPr>
          <a:xfrm>
            <a:off x="5806998" y="2693750"/>
            <a:ext cx="2514600" cy="1229868"/>
            <a:chOff x="5750383" y="2654118"/>
            <a:chExt cx="2514600" cy="1229868"/>
          </a:xfrm>
        </p:grpSpPr>
        <p:sp>
          <p:nvSpPr>
            <p:cNvPr id="64" name="Shape 62"/>
            <p:cNvSpPr/>
            <p:nvPr/>
          </p:nvSpPr>
          <p:spPr>
            <a:xfrm>
              <a:off x="5750383" y="2654118"/>
              <a:ext cx="2514600" cy="1229868"/>
            </a:xfrm>
            <a:prstGeom prst="rect">
              <a:avLst/>
            </a:prstGeom>
            <a:solidFill>
              <a:srgbClr val="FFE600"/>
            </a:solidFill>
            <a:ln w="12700">
              <a:solidFill>
                <a:srgbClr val="FFE6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5914975" y="2860593"/>
              <a:ext cx="2185416" cy="816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Las personas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influyen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más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que</a:t>
              </a: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l</a:t>
              </a:r>
              <a:r>
                <a:rPr lang="en-US" sz="13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as </a:t>
              </a:r>
              <a:r>
                <a:rPr lang="en-US" sz="1300" b="1" err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plataformas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Ningún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con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buena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tiene</a:t>
              </a: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poco </a:t>
              </a:r>
              <a:r>
                <a:rPr kumimoji="0" lang="en-US" sz="950" b="0" i="0" u="none" strike="noStrike" kern="1200" cap="none" spc="0" normalizeH="0" baseline="0" noProof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uso</a:t>
              </a:r>
              <a:endParaRPr kumimoji="0" 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3C8585F-3C23-815D-47B8-266F04EC2D19}"/>
              </a:ext>
            </a:extLst>
          </p:cNvPr>
          <p:cNvGrpSpPr/>
          <p:nvPr/>
        </p:nvGrpSpPr>
        <p:grpSpPr>
          <a:xfrm>
            <a:off x="360628" y="1327781"/>
            <a:ext cx="5238196" cy="3072384"/>
            <a:chOff x="709567" y="1517904"/>
            <a:chExt cx="5536882" cy="3072384"/>
          </a:xfrm>
        </p:grpSpPr>
        <p:sp>
          <p:nvSpPr>
            <p:cNvPr id="8" name="Shape 6"/>
            <p:cNvSpPr/>
            <p:nvPr/>
          </p:nvSpPr>
          <p:spPr>
            <a:xfrm>
              <a:off x="1280160" y="4206240"/>
              <a:ext cx="4480560" cy="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280160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53896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50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350008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246120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142232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038344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90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68680" y="383438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20%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68680" y="325526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40%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267614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68680" y="209702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68680" y="151790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100%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80160" y="4407408"/>
              <a:ext cx="4480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Puntuación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(0-100)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09567" y="1679434"/>
              <a:ext cx="228600" cy="2606040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(%) Uso Administración online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3942509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280160" y="2825039"/>
              <a:ext cx="4480560" cy="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0" y="2642159"/>
              <a:ext cx="118872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kumimoji="0" lang="en-US" sz="6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 flipV="1">
              <a:off x="1459382" y="2090003"/>
              <a:ext cx="4059387" cy="1388093"/>
            </a:xfrm>
            <a:prstGeom prst="line">
              <a:avLst/>
            </a:prstGeom>
            <a:noFill/>
            <a:ln w="12700">
              <a:solidFill>
                <a:srgbClr val="2E2E38"/>
              </a:solidFill>
              <a:prstDash val="sysDot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169115" y="18105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622487" y="228539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160154" y="20189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5199644" y="203926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5217566" y="225933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783787" y="243306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3488070" y="251993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093781" y="2464918"/>
              <a:ext cx="100584" cy="100584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468478" y="256915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4635094" y="2629967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545482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2789103" y="296585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2681569" y="287898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837554" y="312221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886005" y="23722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778472" y="240121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703137" y="22824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2636764" y="25344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3873398" y="26357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004170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5208605" y="18018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5332049" y="16692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518599" y="198714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642043" y="185455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Países Bajos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258178" y="2608326"/>
              <a:ext cx="155448" cy="155448"/>
            </a:xfrm>
            <a:prstGeom prst="ellipse">
              <a:avLst/>
            </a:prstGeom>
            <a:solidFill>
              <a:srgbClr val="FFE600"/>
            </a:solidFill>
            <a:ln w="12700">
              <a:solidFill>
                <a:srgbClr val="1A1A2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4409054" y="250317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</a:t>
              </a:r>
              <a:endPara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3183392" y="2844241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3306836" y="2940253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Croacia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3434304" y="3188818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3557748" y="305623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Italia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3281964" y="367817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3405408" y="354558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Bulgaria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1409090" y="39735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1532534" y="38409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Rumanía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7" name="Text 55">
              <a:extLst>
                <a:ext uri="{FF2B5EF4-FFF2-40B4-BE49-F238E27FC236}">
                  <a16:creationId xmlns:a16="http://schemas.microsoft.com/office/drawing/2014/main" id="{5C0C889D-8AD5-D64A-A9BE-51DC2549FF53}"/>
                </a:ext>
              </a:extLst>
            </p:cNvPr>
            <p:cNvSpPr/>
            <p:nvPr/>
          </p:nvSpPr>
          <p:spPr>
            <a:xfrm>
              <a:off x="2977816" y="2322468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cs typeface="Arial" pitchFamily="34" charset="-120"/>
                </a:rPr>
                <a:t>France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B7BEF80-11D7-7E51-1903-8AA02002396A}"/>
              </a:ext>
            </a:extLst>
          </p:cNvPr>
          <p:cNvGrpSpPr/>
          <p:nvPr/>
        </p:nvGrpSpPr>
        <p:grpSpPr>
          <a:xfrm>
            <a:off x="5586719" y="1682765"/>
            <a:ext cx="2955159" cy="657361"/>
            <a:chOff x="5586719" y="1682765"/>
            <a:chExt cx="2955159" cy="65736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A60210B-5E2C-A3B0-5231-1C1A153FD876}"/>
                </a:ext>
              </a:extLst>
            </p:cNvPr>
            <p:cNvGrpSpPr/>
            <p:nvPr/>
          </p:nvGrpSpPr>
          <p:grpSpPr>
            <a:xfrm>
              <a:off x="5586719" y="1682765"/>
              <a:ext cx="1197266" cy="657361"/>
              <a:chOff x="6014729" y="1721675"/>
              <a:chExt cx="1197266" cy="657361"/>
            </a:xfrm>
          </p:grpSpPr>
          <p:sp>
            <p:nvSpPr>
              <p:cNvPr id="69" name="Text 56">
                <a:extLst>
                  <a:ext uri="{FF2B5EF4-FFF2-40B4-BE49-F238E27FC236}">
                    <a16:creationId xmlns:a16="http://schemas.microsoft.com/office/drawing/2014/main" id="{BD611B17-F86D-0283-2E0C-89269618F2BF}"/>
                  </a:ext>
                </a:extLst>
              </p:cNvPr>
              <p:cNvSpPr/>
              <p:nvPr/>
            </p:nvSpPr>
            <p:spPr>
              <a:xfrm>
                <a:off x="6014729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0,65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0" name="Text 57">
                <a:extLst>
                  <a:ext uri="{FF2B5EF4-FFF2-40B4-BE49-F238E27FC236}">
                    <a16:creationId xmlns:a16="http://schemas.microsoft.com/office/drawing/2014/main" id="{871D1AE9-8774-B3BE-BAB5-F938B914C8A6}"/>
                  </a:ext>
                </a:extLst>
              </p:cNvPr>
              <p:cNvSpPr/>
              <p:nvPr/>
            </p:nvSpPr>
            <p:spPr>
              <a:xfrm>
                <a:off x="6014729" y="2248598"/>
                <a:ext cx="1197266" cy="130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Correlación </a:t>
                </a: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calidad-uso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2AFAA06-2682-7B4D-89D3-5923D9B46AF5}"/>
                </a:ext>
              </a:extLst>
            </p:cNvPr>
            <p:cNvGrpSpPr/>
            <p:nvPr/>
          </p:nvGrpSpPr>
          <p:grpSpPr>
            <a:xfrm>
              <a:off x="7344612" y="1684595"/>
              <a:ext cx="1197266" cy="653701"/>
              <a:chOff x="7493767" y="1721675"/>
              <a:chExt cx="1197266" cy="653701"/>
            </a:xfrm>
          </p:grpSpPr>
          <p:sp>
            <p:nvSpPr>
              <p:cNvPr id="72" name="Text 58">
                <a:extLst>
                  <a:ext uri="{FF2B5EF4-FFF2-40B4-BE49-F238E27FC236}">
                    <a16:creationId xmlns:a16="http://schemas.microsoft.com/office/drawing/2014/main" id="{E10E428E-0B07-DB36-AC87-EE8E398C750D}"/>
                  </a:ext>
                </a:extLst>
              </p:cNvPr>
              <p:cNvSpPr/>
              <p:nvPr/>
            </p:nvSpPr>
            <p:spPr>
              <a:xfrm>
                <a:off x="7493767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0,78</a:t>
                </a:r>
                <a:endParaRPr lang="en-US" sz="3000">
                  <a:latin typeface="EYInterstate" panose="02000503020000020004" pitchFamily="2" charset="0"/>
                </a:endParaRPr>
              </a:p>
            </p:txBody>
          </p:sp>
          <p:sp>
            <p:nvSpPr>
              <p:cNvPr id="73" name="Text 59">
                <a:extLst>
                  <a:ext uri="{FF2B5EF4-FFF2-40B4-BE49-F238E27FC236}">
                    <a16:creationId xmlns:a16="http://schemas.microsoft.com/office/drawing/2014/main" id="{D8B0818A-C576-4086-9ACF-22E4BE065DD7}"/>
                  </a:ext>
                </a:extLst>
              </p:cNvPr>
              <p:cNvSpPr/>
              <p:nvPr/>
            </p:nvSpPr>
            <p:spPr>
              <a:xfrm>
                <a:off x="7493767" y="2234882"/>
                <a:ext cx="1197266" cy="140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Competencias-uso</a:t>
                </a:r>
                <a:r>
                  <a:rPr lang="en-US" sz="85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 (P2)</a:t>
                </a:r>
                <a:endParaRPr lang="en-US" sz="850">
                  <a:latin typeface="EYInterstate" panose="02000503020000020004" pitchFamily="2" charset="0"/>
                </a:endParaRPr>
              </a:p>
            </p:txBody>
          </p:sp>
        </p:grpSp>
        <p:sp>
          <p:nvSpPr>
            <p:cNvPr id="74" name="Text 56">
              <a:extLst>
                <a:ext uri="{FF2B5EF4-FFF2-40B4-BE49-F238E27FC236}">
                  <a16:creationId xmlns:a16="http://schemas.microsoft.com/office/drawing/2014/main" id="{502707F8-2C56-0C01-86B0-8377CF62F073}"/>
                </a:ext>
              </a:extLst>
            </p:cNvPr>
            <p:cNvSpPr/>
            <p:nvPr/>
          </p:nvSpPr>
          <p:spPr>
            <a:xfrm>
              <a:off x="6940601" y="1759985"/>
              <a:ext cx="2473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>
                  <a:solidFill>
                    <a:srgbClr val="747480"/>
                  </a:solidFill>
                  <a:latin typeface="EYInterstate" panose="02000503020000020004" pitchFamily="2" charset="0"/>
                </a:rPr>
                <a:t>&lt;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000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El uso de la Administración digital depende más de las personas que de la plataforma</a:t>
            </a:r>
            <a:endParaRPr lang="es-ES" sz="2000">
              <a:solidFill>
                <a:srgbClr val="000000"/>
              </a:solidFill>
              <a:latin typeface="EYInterstate"/>
              <a:ea typeface="Arial" pitchFamily="34" charset="-122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b="1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98,5  vs  53,8</a:t>
            </a:r>
            <a:endParaRPr lang="es-ES"/>
          </a:p>
          <a:p>
            <a:pPr>
              <a:spcBef>
                <a:spcPts val="200"/>
              </a:spcBef>
            </a:pPr>
            <a:endParaRPr lang="es-ES" sz="85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online,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es claro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accesible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Revisar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plazos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Competencias-uso</a:t>
            </a:r>
            <a:endParaRPr lang="en-US" sz="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Competencias–uso.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 para +55 y canales móviles para 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Calidad-uso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Calidad–uso: relación más débil que la de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use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 inversión tecnológica, con su plan de 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83CFDA4-A655-BB30-B41A-0E82EBBD74FF}"/>
              </a:ext>
            </a:extLst>
          </p:cNvPr>
          <p:cNvSpPr/>
          <p:nvPr/>
        </p:nvSpPr>
        <p:spPr>
          <a:xfrm>
            <a:off x="1255799" y="2273581"/>
            <a:ext cx="213055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</a:pPr>
            <a:r>
              <a:rPr lang="es-ES" sz="850">
                <a:solidFill>
                  <a:srgbClr val="747480"/>
                </a:solidFill>
                <a:latin typeface="EYInterstate"/>
                <a:cs typeface="Arial"/>
              </a:rPr>
              <a:t>Disponibilidad            Accesibilidad</a:t>
            </a:r>
            <a:endParaRPr lang="en-US" sz="950">
              <a:latin typeface="EYInterstate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4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35D1C-4280-3D74-C92E-88793B31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3F5A66-72DE-1BBF-AA6F-B5F0F29C2B2B}"/>
              </a:ext>
            </a:extLst>
          </p:cNvPr>
          <p:cNvSpPr/>
          <p:nvPr/>
        </p:nvSpPr>
        <p:spPr>
          <a:xfrm>
            <a:off x="658368" y="2268855"/>
            <a:ext cx="39319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6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¡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Muchas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gracias!</a:t>
            </a:r>
            <a:endParaRPr lang="es-ES" sz="36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FA92D6-1593-C862-350E-1BFE1670865C}"/>
              </a:ext>
            </a:extLst>
          </p:cNvPr>
          <p:cNvSpPr/>
          <p:nvPr/>
        </p:nvSpPr>
        <p:spPr>
          <a:xfrm>
            <a:off x="640080" y="3244618"/>
            <a:ext cx="3931920" cy="55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1EECD8-2E32-E4B3-B8B4-CAF2D1911BEC}"/>
              </a:ext>
            </a:extLst>
          </p:cNvPr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6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02DC-9633-6F24-B760-5F9B5D4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584D4-C2E0-D92E-45EE-5CD73E15CC5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6A17C-EF1E-E872-2B5A-A87395D58AEB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MEDIDAS DEL PANEL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2763F-696A-1E39-3668-0861EF02A969}"/>
              </a:ext>
            </a:extLst>
          </p:cNvPr>
          <p:cNvSpPr/>
          <p:nvPr/>
        </p:nvSpPr>
        <p:spPr>
          <a:xfrm>
            <a:off x="457200" y="54864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Medidas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DAX del Power BI y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cómo</a:t>
            </a: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explicarlas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65D8CE-BE81-0996-2E57-1B0605053AE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B8057F-622E-1B84-7BC9-6BF6A92FCBB3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Correlación: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Pearson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(27 puntos). &gt; 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0,5-0,7 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FE708E-D333-0A82-C11D-7209807BFEDA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FC9C01-3930-B503-3B8E-668430B0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58507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competencias-uso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% competencias y % uso (−1 a 1)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calidad-uso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Overall Score y % 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57,7 %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 personas que usan la Administración online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Competencia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60,4 %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con competencias básicas o superiores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Puntuación media calidad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74,71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del Overall Score (0-100)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Brecha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pp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 − competencias por tramo de edad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Cuadrante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Sitúa cada país respecto a las dos medias UE (color del punto)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5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C94D-6371-43C0-9EF2-D1E9E935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DD2252-6E20-EB41-2B10-09B336BFD6E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C1F866-6EFB-EA33-4456-180586C43C92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FUENTES OFICIALES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9F58-FF78-BB05-74CC-F2215B2B0CF7}"/>
              </a:ext>
            </a:extLst>
          </p:cNvPr>
          <p:cNvSpPr/>
          <p:nvPr/>
        </p:nvSpPr>
        <p:spPr>
          <a:xfrm>
            <a:off x="457200" y="548640"/>
            <a:ext cx="8229600" cy="38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</a:t>
            </a:r>
            <a:r>
              <a:rPr lang="es-E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</a:t>
            </a:r>
            <a:r>
              <a:rPr lang="es-ES" sz="200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oficiales unidas por una tabla de países común</a:t>
            </a:r>
          </a:p>
          <a:p>
            <a:pPr marL="0" indent="0">
              <a:buNone/>
            </a:pPr>
            <a:endParaRPr lang="en-US"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2A0015-13B4-B510-4540-E3F7C7354260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3B957C-4381-21F8-04CE-9FE4E74FEF6E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Eurostat (</a:t>
            </a:r>
            <a:r>
              <a:rPr lang="en-US" sz="70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isoc_sk_dskl_i21) y Comisión Europea, eGovernment Benchmark 2025.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9128F0-3E6B-DAA7-4FEF-71AA9202BCF7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8</a:t>
            </a:r>
            <a:endParaRPr lang="en-US" sz="80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415802D-F410-6339-86BB-2C445A5847FB}"/>
              </a:ext>
            </a:extLst>
          </p:cNvPr>
          <p:cNvSpPr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15523FB-A9CB-E88A-8637-760DA16C4FA5}"/>
              </a:ext>
            </a:extLst>
          </p:cNvPr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097D4DE-6376-9619-79CC-9696A8037852}"/>
              </a:ext>
            </a:extLst>
          </p:cNvPr>
          <p:cNvSpPr/>
          <p:nvPr/>
        </p:nvSpPr>
        <p:spPr>
          <a:xfrm>
            <a:off x="640080" y="14447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que se relaciona online con la Administración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7FBF2EB-EB8A-D43E-36FA-7531C73EFE88}"/>
              </a:ext>
            </a:extLst>
          </p:cNvPr>
          <p:cNvSpPr/>
          <p:nvPr/>
        </p:nvSpPr>
        <p:spPr>
          <a:xfrm>
            <a:off x="3383280" y="164592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real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42EBF4A-A8FB-B5ED-B874-7164C8725A46}"/>
              </a:ext>
            </a:extLst>
          </p:cNvPr>
          <p:cNvSpPr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73263D4-1F4E-55F3-D356-D4193AED8482}"/>
              </a:ext>
            </a:extLst>
          </p:cNvPr>
          <p:cNvSpPr/>
          <p:nvPr/>
        </p:nvSpPr>
        <p:spPr>
          <a:xfrm>
            <a:off x="457200" y="233172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4BEBA7A-DD2A-D8F4-1E13-F1B2B679CFA9}"/>
              </a:ext>
            </a:extLst>
          </p:cNvPr>
          <p:cNvSpPr/>
          <p:nvPr/>
        </p:nvSpPr>
        <p:spPr>
          <a:xfrm>
            <a:off x="640080" y="24048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isoc_sk_dskl_i21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con competencias digitales básicas o superiores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4094970-9646-43A6-F558-0807A9B83726}"/>
              </a:ext>
            </a:extLst>
          </p:cNvPr>
          <p:cNvSpPr/>
          <p:nvPr/>
        </p:nvSpPr>
        <p:spPr>
          <a:xfrm>
            <a:off x="3383280" y="260604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B44174-ADA5-E5FB-5552-9A063C509386}"/>
              </a:ext>
            </a:extLst>
          </p:cNvPr>
          <p:cNvSpPr/>
          <p:nvPr/>
        </p:nvSpPr>
        <p:spPr>
          <a:xfrm>
            <a:off x="457200" y="329184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52EC78A-DEC2-CA70-3FB6-7F65801296CC}"/>
              </a:ext>
            </a:extLst>
          </p:cNvPr>
          <p:cNvSpPr/>
          <p:nvPr/>
        </p:nvSpPr>
        <p:spPr>
          <a:xfrm>
            <a:off x="457200" y="329184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01A5E81-B52B-F1F8-A3FD-789A4723C8A0}"/>
              </a:ext>
            </a:extLst>
          </p:cNvPr>
          <p:cNvSpPr/>
          <p:nvPr/>
        </p:nvSpPr>
        <p:spPr>
          <a:xfrm>
            <a:off x="640080" y="33649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</a:t>
            </a:r>
            <a:endParaRPr lang="en-US" sz="100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Comisión Europea  ·  Puntuación 0-100 por componente y 9 áreas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3225463-F10B-80D5-A6D1-E380A563411B}"/>
              </a:ext>
            </a:extLst>
          </p:cNvPr>
          <p:cNvSpPr/>
          <p:nvPr/>
        </p:nvSpPr>
        <p:spPr>
          <a:xfrm>
            <a:off x="3383280" y="356616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4BB54D3-FFDB-2855-772B-05EA9662E529}"/>
              </a:ext>
            </a:extLst>
          </p:cNvPr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Preparación en Power Query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EBF5CF89-DC88-44F5-932E-22DEDC1A96D5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8A3F50B-7B51-35F2-A71D-65D40A0A73D6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28B8E54-1D5C-35DC-53D0-B1839D216F24}"/>
              </a:ext>
            </a:extLst>
          </p:cNvPr>
          <p:cNvSpPr/>
          <p:nvPr/>
        </p:nvSpPr>
        <p:spPr>
          <a:xfrm>
            <a:off x="5257800" y="1508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año 2025 y los 27 países de la UE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B12E0AA-518B-FE6A-DA99-4F4D78BDDA30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2EC6F32-CBDC-B8D0-B421-5BC3FCC27339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D6D766F3-AB96-0B0A-6AD5-29A64130E7B6}"/>
              </a:ext>
            </a:extLst>
          </p:cNvPr>
          <p:cNvSpPr/>
          <p:nvPr/>
        </p:nvSpPr>
        <p:spPr>
          <a:xfrm>
            <a:off x="525780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tramos de edad (16-74, 16-24, 25-54, 55-74)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FB68669F-67D9-B62C-35A7-CD49607DF7FD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F0B6EBED-032C-C943-59F7-27B97574898A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4E30D6DF-0B94-08AD-0DA4-44E91B137ADF}"/>
              </a:ext>
            </a:extLst>
          </p:cNvPr>
          <p:cNvSpPr/>
          <p:nvPr/>
        </p:nvSpPr>
        <p:spPr>
          <a:xfrm>
            <a:off x="525780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Unificar los códigos de país entre fuentes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9957AA3A-40DF-C1CF-11C5-F5205ED85904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36242EB-677F-BC55-740C-90816B4BC628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10C22D6D-FAFF-F239-238F-556B04ACF6A7}"/>
              </a:ext>
            </a:extLst>
          </p:cNvPr>
          <p:cNvSpPr/>
          <p:nvPr/>
        </p:nvSpPr>
        <p:spPr>
          <a:xfrm>
            <a:off x="5257800" y="3154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la tabla de países que relaciona las tres tablas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2ED4C62D-89B7-3A4B-6F3D-2DEAE364EA2A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0727889-832D-A90C-7475-9C4EF6654A37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5</a:t>
            </a:r>
            <a:endParaRPr lang="en-US" sz="1000">
              <a:latin typeface="EYInterstate" panose="02000503020000020004" pitchFamily="2" charset="0"/>
            </a:endParaRPr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8F87276-050E-880C-6CCB-FB776B80F258}"/>
              </a:ext>
            </a:extLst>
          </p:cNvPr>
          <p:cNvSpPr/>
          <p:nvPr/>
        </p:nvSpPr>
        <p:spPr>
          <a:xfrm>
            <a:off x="525780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medidas: medias UE, correlaciones, brecha y cuadrante</a:t>
            </a:r>
            <a:endParaRPr lang="en-US" sz="95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155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1355</Words>
  <Application>Microsoft Office PowerPoint</Application>
  <PresentationFormat>Presentación en pantalla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EYInterstate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Administracion_Digital_UE_EY_v2</dc:title>
  <dc:subject>PptxGenJS Presentation</dc:subject>
  <dc:creator>Laia Perez Blazquez</dc:creator>
  <cp:lastModifiedBy>Laia Estopañan Moreno</cp:lastModifiedBy>
  <cp:revision>1</cp:revision>
  <dcterms:created xsi:type="dcterms:W3CDTF">2026-10-05T11:32:34Z</dcterms:created>
  <dcterms:modified xsi:type="dcterms:W3CDTF">2026-10-05T20:17:16Z</dcterms:modified>
</cp:coreProperties>
</file>